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94907b72f04c62" /><Relationship Type="http://schemas.openxmlformats.org/officeDocument/2006/relationships/extended-properties" Target="/docProps/app.xml" Id="R17cbf74ef2f6460d" /><Relationship Type="http://schemas.openxmlformats.org/officeDocument/2006/relationships/officeDocument" Target="/ppt/presentation.xml" Id="R3ce3e50a8f8840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0b6afac4404e3c"/>
  </p:sldMasterIdLst>
  <p:notesMasterIdLst>
    <p:notesMasterId xmlns:r="http://schemas.openxmlformats.org/officeDocument/2006/relationships" r:id="Rc745c811509f4db5"/>
  </p:notesMasterIdLst>
  <p:sldIdLst>
    <p:sldId xmlns:r="http://schemas.openxmlformats.org/officeDocument/2006/relationships" id="256" r:id="Raa5d6232a97549f9"/>
    <p:sldId xmlns:r="http://schemas.openxmlformats.org/officeDocument/2006/relationships" id="257" r:id="R4c53ad3fb6f442a2"/>
    <p:sldId xmlns:r="http://schemas.openxmlformats.org/officeDocument/2006/relationships" id="258" r:id="R76b96d5cec1a4dab"/>
    <p:sldId xmlns:r="http://schemas.openxmlformats.org/officeDocument/2006/relationships" id="259" r:id="Raae94457fb0c4650"/>
    <p:sldId xmlns:r="http://schemas.openxmlformats.org/officeDocument/2006/relationships" id="260" r:id="Rc15fbbf4be9b4095"/>
    <p:sldId xmlns:r="http://schemas.openxmlformats.org/officeDocument/2006/relationships" id="261" r:id="Rc142ab48c74e40fb"/>
    <p:sldId xmlns:r="http://schemas.openxmlformats.org/officeDocument/2006/relationships" id="262" r:id="R62d7a85f1a3448a5"/>
    <p:sldId xmlns:r="http://schemas.openxmlformats.org/officeDocument/2006/relationships" id="263" r:id="Rd4dd1108119c4d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5ff5924b8c47d2" /><Relationship Type="http://schemas.openxmlformats.org/officeDocument/2006/relationships/slideMaster" Target="/ppt/slideMasters/slideMaster1.xml" Id="Rfc0b6afac4404e3c" /><Relationship Type="http://schemas.openxmlformats.org/officeDocument/2006/relationships/notesMaster" Target="/ppt/notesMasters/notesMaster1.xml" Id="Rc745c811509f4db5" /><Relationship Type="http://schemas.openxmlformats.org/officeDocument/2006/relationships/presProps" Target="/ppt/presProps.xml" Id="R0dfeaad0da4a4108" /><Relationship Type="http://schemas.openxmlformats.org/officeDocument/2006/relationships/tableStyles" Target="/ppt/tableStyles.xml" Id="R6d63aac61adf47a5" /><Relationship Type="http://schemas.openxmlformats.org/officeDocument/2006/relationships/slide" Target="/ppt/slides/slide1.xml" Id="Raa5d6232a97549f9" /><Relationship Type="http://schemas.openxmlformats.org/officeDocument/2006/relationships/slide" Target="/ppt/slides/slide2.xml" Id="R4c53ad3fb6f442a2" /><Relationship Type="http://schemas.openxmlformats.org/officeDocument/2006/relationships/slide" Target="/ppt/slides/slide3.xml" Id="R76b96d5cec1a4dab" /><Relationship Type="http://schemas.openxmlformats.org/officeDocument/2006/relationships/slide" Target="/ppt/slides/slide4.xml" Id="Raae94457fb0c4650" /><Relationship Type="http://schemas.openxmlformats.org/officeDocument/2006/relationships/slide" Target="/ppt/slides/slide5.xml" Id="Rc15fbbf4be9b4095" /><Relationship Type="http://schemas.openxmlformats.org/officeDocument/2006/relationships/slide" Target="/ppt/slides/slide6.xml" Id="Rc142ab48c74e40fb" /><Relationship Type="http://schemas.openxmlformats.org/officeDocument/2006/relationships/slide" Target="/ppt/slides/slide7.xml" Id="R62d7a85f1a3448a5" /><Relationship Type="http://schemas.openxmlformats.org/officeDocument/2006/relationships/slide" Target="/ppt/slides/slide8.xml" Id="Rd4dd1108119c4d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14c5013bc84f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09c8c0fd764a9c" /><Relationship Type="http://schemas.openxmlformats.org/officeDocument/2006/relationships/notesMaster" Target="/ppt/notesMasters/notesMaster1.xml" Id="Rfb7eaa16684b46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b8f3bfb0fd48b6" /><Relationship Type="http://schemas.openxmlformats.org/officeDocument/2006/relationships/notesMaster" Target="/ppt/notesMasters/notesMaster1.xml" Id="Rf4aff21a39cd45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f6543217b94166" /><Relationship Type="http://schemas.openxmlformats.org/officeDocument/2006/relationships/notesMaster" Target="/ppt/notesMasters/notesMaster1.xml" Id="R57eedb4dc9144a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7114f0a3854497" /><Relationship Type="http://schemas.openxmlformats.org/officeDocument/2006/relationships/notesMaster" Target="/ppt/notesMasters/notesMaster1.xml" Id="Rf75b49e1131941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19eca1bf314c2c" /><Relationship Type="http://schemas.openxmlformats.org/officeDocument/2006/relationships/notesMaster" Target="/ppt/notesMasters/notesMaster1.xml" Id="R787352915de24a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1437fce1ed41bd" /><Relationship Type="http://schemas.openxmlformats.org/officeDocument/2006/relationships/notesMaster" Target="/ppt/notesMasters/notesMaster1.xml" Id="R72e262255da848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726a09b35247fc" /><Relationship Type="http://schemas.openxmlformats.org/officeDocument/2006/relationships/notesMaster" Target="/ppt/notesMasters/notesMaster1.xml" Id="R011984c59d404f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18e357dcdb4b40" /><Relationship Type="http://schemas.openxmlformats.org/officeDocument/2006/relationships/notesMaster" Target="/ppt/notesMasters/notesMaster1.xml" Id="R36d377af6d1c47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4962477c349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d3b89d57e54f88" /><Relationship Type="http://schemas.openxmlformats.org/officeDocument/2006/relationships/slideLayout" Target="/ppt/slideLayouts/slideLayout1.xml" Id="R43c1e66e06464f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c1e66e06464f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bdbb98da34bf6" /><Relationship Type="http://schemas.openxmlformats.org/officeDocument/2006/relationships/notesSlide" Target="/ppt/notesSlides/notesSlide1.xml" Id="R69d72af3e12146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d4435b596400d" /><Relationship Type="http://schemas.openxmlformats.org/officeDocument/2006/relationships/notesSlide" Target="/ppt/notesSlides/notesSlide2.xml" Id="R3bea2948cf324b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7cac62d6a4982" /><Relationship Type="http://schemas.openxmlformats.org/officeDocument/2006/relationships/notesSlide" Target="/ppt/notesSlides/notesSlide3.xml" Id="Re91a5d05901243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5f1ebd0854338" /><Relationship Type="http://schemas.openxmlformats.org/officeDocument/2006/relationships/notesSlide" Target="/ppt/notesSlides/notesSlide4.xml" Id="R8e8724231c0f41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c4c11aaf74a4f" /><Relationship Type="http://schemas.openxmlformats.org/officeDocument/2006/relationships/notesSlide" Target="/ppt/notesSlides/notesSlide5.xml" Id="R9d54d6ee3aaf4e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2aaa751a34400" /><Relationship Type="http://schemas.openxmlformats.org/officeDocument/2006/relationships/notesSlide" Target="/ppt/notesSlides/notesSlide6.xml" Id="R86d8ae863e0545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d427934c542b0" /><Relationship Type="http://schemas.openxmlformats.org/officeDocument/2006/relationships/notesSlide" Target="/ppt/notesSlides/notesSlide7.xml" Id="R74fb9c0387244c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84afe12604fe7" /><Relationship Type="http://schemas.openxmlformats.org/officeDocument/2006/relationships/notesSlide" Target="/ppt/notesSlides/notesSlide8.xml" Id="R3f9c38ce4a304b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CCDBB3-EFA3-495F-9C1B-068AF3DA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8F34A"/>
                </a:solidFill>
              </a:defRPr>
            </a:pPr>
            <a:r>
              <a:rPr sz="1200" b="1">
                <a:solidFill>
                  <a:srgbClr val="B8F34A"/>
                </a:solidFill>
              </a:rPr>
              <a:t>VIBE CODING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D2829-70AB-4B0E-B056-4E2F5F36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66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4F7FB"/>
                </a:solidFill>
              </a:defRPr>
            </a:pPr>
            <a:r>
              <a:rPr sz="4200" b="1">
                <a:solidFill>
                  <a:srgbClr val="F4F7FB"/>
                </a:solidFill>
              </a:rPr>
              <a:t>不会写代码，</a:t>
            </a:r>
          </a:p>
          <a:p xmlns:a="http://schemas.openxmlformats.org/drawingml/2006/main">
            <a:pPr>
              <a:defRPr sz="4200" b="1">
                <a:solidFill>
                  <a:srgbClr val="F4F7FB"/>
                </a:solidFill>
              </a:defRPr>
            </a:pPr>
            <a:r>
              <a:rPr sz="4200" b="1">
                <a:solidFill>
                  <a:srgbClr val="F4F7FB"/>
                </a:solidFill>
              </a:rPr>
              <a:t>也能做出软件？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56166-6F62-4C60-82EF-3EB39E5D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9B4C7"/>
                </a:solidFill>
              </a:defRPr>
            </a:pPr>
            <a:r>
              <a:rPr sz="1950" b="0">
                <a:solidFill>
                  <a:srgbClr val="A9B4C7"/>
                </a:solidFill>
              </a:rPr>
              <a:t>一场关于 AI 编程的扫盲课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AFDA6-1E52-42F9-B751-321F9831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62050"/>
            <a:ext cx="3143250" cy="37147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21A2E"/>
          </a:solidFill>
          <a:ln xmlns:a="http://schemas.openxmlformats.org/drawingml/2006/main" w="9525">
            <a:solidFill>
              <a:srgbClr val="2B385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07737-8E4E-432A-B404-89D85EC3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859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F34A"/>
                </a:solidFill>
              </a:defRPr>
            </a:pPr>
            <a:r>
              <a:rPr sz="1350" b="1">
                <a:solidFill>
                  <a:srgbClr val="B8F34A"/>
                </a:solidFill>
              </a:rPr>
              <a:t>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831BD-0DC4-4421-82C4-214FC374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668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9B4C7"/>
                </a:solidFill>
              </a:defRPr>
            </a:pPr>
            <a:r>
              <a:rPr sz="1650" b="1">
                <a:solidFill>
                  <a:srgbClr val="A9B4C7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ED72F-CC2F-4186-A227-A03C361D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4859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2D9FF"/>
                </a:solidFill>
              </a:defRPr>
            </a:pPr>
            <a:r>
              <a:rPr sz="1350" b="1">
                <a:solidFill>
                  <a:srgbClr val="62D9FF"/>
                </a:solidFill>
              </a:rPr>
              <a:t>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40EFC-C9AC-497C-A8F1-E498597E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5740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8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323D4-78CD-48AC-90A5-FE19DB2B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7FB"/>
                </a:solidFill>
              </a:defRPr>
            </a:pPr>
            <a:r>
              <a:rPr sz="1800" b="1">
                <a:solidFill>
                  <a:srgbClr val="F4F7FB"/>
                </a:solidFill>
              </a:rPr>
              <a:t>“做一个能记录</a:t>
            </a:r>
          </a:p>
          <a:p xmlns:a="http://schemas.openxmlformats.org/drawingml/2006/main">
            <a:pPr>
              <a:defRPr sz="1800" b="1">
                <a:solidFill>
                  <a:srgbClr val="F4F7FB"/>
                </a:solidFill>
              </a:defRPr>
            </a:pPr>
            <a:r>
              <a:rPr sz="1800" b="1">
                <a:solidFill>
                  <a:srgbClr val="F4F7FB"/>
                </a:solidFill>
              </a:rPr>
              <a:t>灵感的网页”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1D2E50-A12E-4696-9E3F-3CCA532F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05200"/>
            <a:ext cx="72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B8F34A"/>
                </a:solidFill>
              </a:defRPr>
            </a:pPr>
            <a:r>
              <a:rPr sz="2850" b="1">
                <a:solidFill>
                  <a:srgbClr val="B8F34A"/>
                </a:solidFill>
              </a:rPr>
              <a:t>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B1D5E-4F35-40C2-90C7-386828FC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52900"/>
            <a:ext cx="223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4C7"/>
                </a:solidFill>
              </a:defRPr>
            </a:pPr>
            <a:r>
              <a:rPr sz="1350" b="0">
                <a:solidFill>
                  <a:srgbClr val="A9B4C7"/>
                </a:solidFill>
              </a:rPr>
              <a:t>把自然语言</a:t>
            </a:r>
          </a:p>
          <a:p xmlns:a="http://schemas.openxmlformats.org/drawingml/2006/main">
            <a:pPr>
              <a:defRPr sz="1350" b="0">
                <a:solidFill>
                  <a:srgbClr val="A9B4C7"/>
                </a:solidFill>
              </a:defRPr>
            </a:pPr>
            <a:r>
              <a:rPr sz="1350" b="0">
                <a:solidFill>
                  <a:srgbClr val="A9B4C7"/>
                </a:solidFill>
              </a:rPr>
              <a:t>变成可运行的东西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8CCAD-7129-4C8C-A4EC-E343ECFA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4C7"/>
                </a:solidFill>
              </a:defRPr>
            </a:pPr>
            <a:r>
              <a:rPr sz="1350" b="0">
                <a:solidFill>
                  <a:srgbClr val="A9B4C7"/>
                </a:solidFill>
              </a:rPr>
              <a:t>适合：产品、设计、运营、创业者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DEAEAE-FE8F-4289-A26C-E277CA51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8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7A4212-088E-473C-B6E1-7028C762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9B4C7"/>
                </a:solidFill>
              </a:defRPr>
            </a:pPr>
            <a:r>
              <a:rPr sz="900" b="0">
                <a:solidFill>
                  <a:srgbClr val="A9B4C7"/>
                </a:solidFill>
              </a:rPr>
              <a:t>VIBE CODING 101</a:t>
            </a:r>
          </a:p>
        </p:txBody>
      </p:sp>
    </p:spTree>
    <p:extLst>
      <p:ext uri="{BB962C8B-B14F-4D97-AF65-F5344CB8AC3E}">
        <p14:creationId xmlns:p14="http://schemas.microsoft.com/office/powerpoint/2010/main" val="10176346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044F57-D001-4E57-AC06-3320C0B3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F34A"/>
                </a:solidFill>
              </a:defRPr>
            </a:pPr>
            <a:r>
              <a:rPr sz="1050" b="1">
                <a:solidFill>
                  <a:srgbClr val="B8F34A"/>
                </a:solidFill>
              </a:rPr>
              <a:t>VIBE CODING 101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F6520-5D24-471D-8015-A156127B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9B4C7"/>
                </a:solidFill>
              </a:defRPr>
            </a:pPr>
            <a:r>
              <a:rPr sz="1050" b="1">
                <a:solidFill>
                  <a:srgbClr val="A9B4C7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DAD44-AEF0-4CF3-AC7A-0451AB3E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8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04091-0504-461E-8DA9-2139DE43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9B4C7"/>
                </a:solidFill>
              </a:defRPr>
            </a:pPr>
            <a:r>
              <a:rPr sz="900" b="0">
                <a:solidFill>
                  <a:srgbClr val="A9B4C7"/>
                </a:solidFill>
              </a:rPr>
              <a:t>把想法说清楚，剩下的交给协作。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64FD67-6244-4C03-8DC5-82C2ABA1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7FB"/>
                </a:solidFill>
              </a:defRPr>
            </a:pPr>
            <a:r>
              <a:rPr sz="2850" b="1">
                <a:solidFill>
                  <a:srgbClr val="F4F7FB"/>
                </a:solidFill>
              </a:rPr>
              <a:t>它到底是什么？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917E00-B667-4D0A-816E-AE5AB1E0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B4C7"/>
                </a:solidFill>
              </a:defRPr>
            </a:pPr>
            <a:r>
              <a:rPr sz="1500" b="0">
                <a:solidFill>
                  <a:srgbClr val="A9B4C7"/>
                </a:solidFill>
              </a:rPr>
              <a:t>一句话：用自然语言，和 AI 一起“编程”。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1B7B0-1806-45D5-9026-C47CFBAB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21A2E"/>
          </a:solidFill>
          <a:ln xmlns:a="http://schemas.openxmlformats.org/drawingml/2006/main" w="9525">
            <a:solidFill>
              <a:srgbClr val="2B38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B33A03-6231-40C6-BE75-05CD66EE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F34A"/>
                </a:solidFill>
              </a:defRPr>
            </a:pPr>
            <a:r>
              <a:rPr sz="1500" b="1">
                <a:solidFill>
                  <a:srgbClr val="B8F34A"/>
                </a:solidFill>
              </a:rPr>
              <a:t>你负责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8D046-355E-4A5A-8D97-FA946A1C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7FB"/>
                </a:solidFill>
              </a:defRPr>
            </a:pPr>
            <a:r>
              <a:rPr sz="2250" b="1">
                <a:solidFill>
                  <a:srgbClr val="F4F7FB"/>
                </a:solidFill>
              </a:rPr>
              <a:t>目标、场景、判断与取舍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69390-A22E-4007-A848-3A106B7E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717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2D9FF"/>
                </a:solidFill>
              </a:defRPr>
            </a:pPr>
            <a:r>
              <a:rPr sz="1500" b="1">
                <a:solidFill>
                  <a:srgbClr val="62D9FF"/>
                </a:solidFill>
              </a:rPr>
              <a:t>AI 负责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A5872-0A52-4E65-8DBA-8FE79EF7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289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7FB"/>
                </a:solidFill>
              </a:defRPr>
            </a:pPr>
            <a:r>
              <a:rPr sz="2250" b="1">
                <a:solidFill>
                  <a:srgbClr val="F4F7FB"/>
                </a:solidFill>
              </a:rPr>
              <a:t>代码、结构、调试与迭代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DDCD9F-0CB0-447B-B942-3C20DDAB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B86B"/>
                </a:solidFill>
              </a:defRPr>
            </a:pPr>
            <a:r>
              <a:rPr sz="1500" b="1">
                <a:solidFill>
                  <a:srgbClr val="FFB86B"/>
                </a:solidFill>
              </a:rPr>
              <a:t>最终交付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FA23EA-6DAB-4C31-BE10-F68BF9C1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289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7FB"/>
                </a:solidFill>
              </a:defRPr>
            </a:pPr>
            <a:r>
              <a:rPr sz="2250" b="1">
                <a:solidFill>
                  <a:srgbClr val="F4F7FB"/>
                </a:solidFill>
              </a:rPr>
              <a:t>可运行的产品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A22E1C-B12A-4909-9E66-B41A3C26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67000"/>
            <a:ext cx="0" cy="1028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8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845930-6EBD-481F-A5C9-C96ACF13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67000"/>
            <a:ext cx="0" cy="1028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85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25005B-3D6B-433A-A182-EE4D622E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F7FB"/>
                </a:solidFill>
              </a:defRPr>
            </a:pPr>
            <a:r>
              <a:rPr sz="2100" b="1">
                <a:solidFill>
                  <a:srgbClr val="F4F7FB"/>
                </a:solidFill>
              </a:rPr>
              <a:t>关键变化：编程从“写语法”变成“做判断”。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92096-B77E-48C5-A446-49217DBB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B4C7"/>
                </a:solidFill>
              </a:defRPr>
            </a:pPr>
            <a:r>
              <a:rPr sz="1500" b="0">
                <a:solidFill>
                  <a:srgbClr val="A9B4C7"/>
                </a:solidFill>
              </a:rPr>
              <a:t>但它不是魔法，也不是“按一下就完事”。</a:t>
            </a:r>
          </a:p>
        </p:txBody>
      </p:sp>
    </p:spTree>
    <p:extLst>
      <p:ext uri="{BB962C8B-B14F-4D97-AF65-F5344CB8AC3E}">
        <p14:creationId xmlns:p14="http://schemas.microsoft.com/office/powerpoint/2010/main" val="6837503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61F223-58F8-44D9-971F-A3E47A0C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F34A"/>
                </a:solidFill>
              </a:defRPr>
            </a:pPr>
            <a:r>
              <a:rPr sz="1050" b="1">
                <a:solidFill>
                  <a:srgbClr val="B8F34A"/>
                </a:solidFill>
              </a:rPr>
              <a:t>VIBE CODING 101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3EFBD-8225-4FAB-9235-CA94E6E2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9B4C7"/>
                </a:solidFill>
              </a:defRPr>
            </a:pPr>
            <a:r>
              <a:rPr sz="1050" b="1">
                <a:solidFill>
                  <a:srgbClr val="A9B4C7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8B007-D8B7-4843-8624-EBBD1D9B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8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95A51-C25B-4316-9550-544FAD1C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9B4C7"/>
                </a:solidFill>
              </a:defRPr>
            </a:pPr>
            <a:r>
              <a:rPr sz="900" b="0">
                <a:solidFill>
                  <a:srgbClr val="A9B4C7"/>
                </a:solidFill>
              </a:rPr>
              <a:t>把想法说清楚，剩下的交给协作。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AA893-AD6B-4D18-9B4E-807C2203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7FB"/>
                </a:solidFill>
              </a:defRPr>
            </a:pPr>
            <a:r>
              <a:rPr sz="2850" b="1">
                <a:solidFill>
                  <a:srgbClr val="F4F7FB"/>
                </a:solidFill>
              </a:rPr>
              <a:t>工作方式变了：从敲代码到搭回路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49CF7-779A-48D2-83B1-3A2DBE0A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B4C7"/>
                </a:solidFill>
              </a:defRPr>
            </a:pPr>
            <a:r>
              <a:rPr sz="1500" b="0">
                <a:solidFill>
                  <a:srgbClr val="A9B4C7"/>
                </a:solidFill>
              </a:rPr>
              <a:t>Vibe Coding 的核心，不是一次生成，而是持续对话。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48046-BB2E-42B3-B775-D838327C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2860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18233A"/>
          </a:solidFill>
          <a:ln xmlns:a="http://schemas.openxmlformats.org/drawingml/2006/main" w="9525">
            <a:solidFill>
              <a:srgbClr val="B8F3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231BB7-A687-4307-9A96-9CAB3789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8F34A"/>
                </a:solidFill>
              </a:defRPr>
            </a:pPr>
            <a:r>
              <a:rPr sz="1200" b="1">
                <a:solidFill>
                  <a:srgbClr val="B8F34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39CD02-E802-4EB1-93C0-C347101E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7FB"/>
                </a:solidFill>
              </a:defRPr>
            </a:pPr>
            <a:r>
              <a:rPr sz="1800" b="1">
                <a:solidFill>
                  <a:srgbClr val="F4F7FB"/>
                </a:solidFill>
              </a:rPr>
              <a:t>描述目标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B489E4-33C6-403D-8168-105965B6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1857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4C7"/>
                </a:solidFill>
              </a:defRPr>
            </a:pPr>
            <a:r>
              <a:rPr sz="1200" b="0">
                <a:solidFill>
                  <a:srgbClr val="A9B4C7"/>
                </a:solidFill>
              </a:rPr>
              <a:t>先说清楚要解决谁的什么问题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9FBEC9-F785-4EB2-B9AD-4E1DDE7F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43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8F34A"/>
                </a:solidFill>
              </a:defRPr>
            </a:pPr>
            <a:r>
              <a:rPr sz="1800" b="1">
                <a:solidFill>
                  <a:srgbClr val="B8F34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41FF6-6B95-46DA-AECE-3311914F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22860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121A2E"/>
          </a:solidFill>
          <a:ln xmlns:a="http://schemas.openxmlformats.org/drawingml/2006/main" w="9525">
            <a:solidFill>
              <a:srgbClr val="2B385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7BEC43-5129-45B0-B5D5-A032F57C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0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8F34A"/>
                </a:solidFill>
              </a:defRPr>
            </a:pPr>
            <a:r>
              <a:rPr sz="1200" b="1">
                <a:solidFill>
                  <a:srgbClr val="B8F34A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F9E0F0-4EA1-4711-B0F0-6C6B3DD6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861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7FB"/>
                </a:solidFill>
              </a:defRPr>
            </a:pPr>
            <a:r>
              <a:rPr sz="1800" b="1">
                <a:solidFill>
                  <a:srgbClr val="F4F7FB"/>
                </a:solidFill>
              </a:rPr>
              <a:t>让 AI 动手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2D2013-B837-4181-967E-90B8DBE3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62350"/>
            <a:ext cx="1857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4C7"/>
                </a:solidFill>
              </a:defRPr>
            </a:pPr>
            <a:r>
              <a:rPr sz="1200" b="0">
                <a:solidFill>
                  <a:srgbClr val="A9B4C7"/>
                </a:solidFill>
              </a:rPr>
              <a:t>生成页面、逻辑和基础结构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E31EC0-ABF7-47BA-B6C4-27E64151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43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8F34A"/>
                </a:solidFill>
              </a:defRPr>
            </a:pPr>
            <a:r>
              <a:rPr sz="1800" b="1">
                <a:solidFill>
                  <a:srgbClr val="B8F34A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58839B-A1D9-47CD-8FD2-CFEB188B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22860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121A2E"/>
          </a:solidFill>
          <a:ln xmlns:a="http://schemas.openxmlformats.org/drawingml/2006/main" w="9525">
            <a:solidFill>
              <a:srgbClr val="2B385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0E029A-D759-4D89-B4A5-7FD26146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8F34A"/>
                </a:solidFill>
              </a:defRPr>
            </a:pPr>
            <a:r>
              <a:rPr sz="1200" b="1">
                <a:solidFill>
                  <a:srgbClr val="B8F34A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B76705-245E-4BC0-A48F-ED167240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861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7FB"/>
                </a:solidFill>
              </a:defRPr>
            </a:pPr>
            <a:r>
              <a:rPr sz="1800" b="1">
                <a:solidFill>
                  <a:srgbClr val="F4F7FB"/>
                </a:solidFill>
              </a:rPr>
              <a:t>亲自试用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4783DC-DAE1-4036-B26A-12641323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62350"/>
            <a:ext cx="1857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4C7"/>
                </a:solidFill>
              </a:defRPr>
            </a:pPr>
            <a:r>
              <a:rPr sz="1200" b="0">
                <a:solidFill>
                  <a:srgbClr val="A9B4C7"/>
                </a:solidFill>
              </a:rPr>
              <a:t>用真实场景找出不对的地方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7E82E8-CA92-4C2A-A385-A2B6BC5F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43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8F34A"/>
                </a:solidFill>
              </a:defRPr>
            </a:pPr>
            <a:r>
              <a:rPr sz="1800" b="1">
                <a:solidFill>
                  <a:srgbClr val="B8F34A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8AA25B-404F-4DDF-9841-D7E9917C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22860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121A2E"/>
          </a:solidFill>
          <a:ln xmlns:a="http://schemas.openxmlformats.org/drawingml/2006/main" w="9525">
            <a:solidFill>
              <a:srgbClr val="2B385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0143FC-AFAC-47E5-9BC2-BB70AC51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98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8F34A"/>
                </a:solidFill>
              </a:defRPr>
            </a:pPr>
            <a:r>
              <a:rPr sz="1200" b="1">
                <a:solidFill>
                  <a:srgbClr val="B8F34A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46C839-9D65-4A74-92EA-C94E8C85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861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7FB"/>
                </a:solidFill>
              </a:defRPr>
            </a:pPr>
            <a:r>
              <a:rPr sz="1800" b="1">
                <a:solidFill>
                  <a:srgbClr val="F4F7FB"/>
                </a:solidFill>
              </a:rPr>
              <a:t>反馈迭代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7495D1-795C-4FF1-B312-C1103524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62350"/>
            <a:ext cx="1857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4C7"/>
                </a:solidFill>
              </a:defRPr>
            </a:pPr>
            <a:r>
              <a:rPr sz="1200" b="0">
                <a:solidFill>
                  <a:srgbClr val="A9B4C7"/>
                </a:solidFill>
              </a:rPr>
              <a:t>告诉 AI 哪里不对、为什么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02DFA7-A0F3-485B-8923-E4C67106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F7FB"/>
                </a:solidFill>
              </a:defRPr>
            </a:pPr>
            <a:r>
              <a:rPr sz="2100" b="1">
                <a:solidFill>
                  <a:srgbClr val="F4F7FB"/>
                </a:solidFill>
              </a:rPr>
              <a:t>像带一个“速度很快、但需要复核的实习生”。</a:t>
            </a:r>
          </a:p>
        </p:txBody>
      </p:sp>
    </p:spTree>
    <p:extLst>
      <p:ext uri="{BB962C8B-B14F-4D97-AF65-F5344CB8AC3E}">
        <p14:creationId xmlns:p14="http://schemas.microsoft.com/office/powerpoint/2010/main" val="11119264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20852B-0534-4972-8ED9-F73EBD23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F34A"/>
                </a:solidFill>
              </a:defRPr>
            </a:pPr>
            <a:r>
              <a:rPr sz="1050" b="1">
                <a:solidFill>
                  <a:srgbClr val="B8F34A"/>
                </a:solidFill>
              </a:rPr>
              <a:t>VIBE CODING 101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64DD6-C65D-436D-A641-B2733C0A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9B4C7"/>
                </a:solidFill>
              </a:defRPr>
            </a:pPr>
            <a:r>
              <a:rPr sz="1050" b="1">
                <a:solidFill>
                  <a:srgbClr val="A9B4C7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02FF9-3C6B-4615-9AB8-323C5B6D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8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C8F6E-A1E7-47FB-AB16-A9A99506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9B4C7"/>
                </a:solidFill>
              </a:defRPr>
            </a:pPr>
            <a:r>
              <a:rPr sz="900" b="0">
                <a:solidFill>
                  <a:srgbClr val="A9B4C7"/>
                </a:solidFill>
              </a:rPr>
              <a:t>把想法说清楚，剩下的交给协作。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744B1-3428-4A80-89B7-593A9984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7FB"/>
                </a:solidFill>
              </a:defRPr>
            </a:pPr>
            <a:r>
              <a:rPr sz="2850" b="1">
                <a:solidFill>
                  <a:srgbClr val="F4F7FB"/>
                </a:solidFill>
              </a:rPr>
              <a:t>最适合从哪里开始？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39E91-B462-46F0-ABDC-2D228FE4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B4C7"/>
                </a:solidFill>
              </a:defRPr>
            </a:pPr>
            <a:r>
              <a:rPr sz="1500" b="0">
                <a:solidFill>
                  <a:srgbClr val="A9B4C7"/>
                </a:solidFill>
              </a:rPr>
              <a:t>先做“看得见、改得动、风险低”的小东西。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491F3-D1A0-462B-808C-4543E174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F34A"/>
                </a:solidFill>
              </a:defRPr>
            </a:pPr>
            <a:r>
              <a:rPr sz="1350" b="1">
                <a:solidFill>
                  <a:srgbClr val="B8F34A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38E5E-BF09-4C32-96C9-D8B64928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71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7FB"/>
                </a:solidFill>
              </a:defRPr>
            </a:pPr>
            <a:r>
              <a:rPr sz="1800" b="1">
                <a:solidFill>
                  <a:srgbClr val="F4F7FB"/>
                </a:solidFill>
              </a:rPr>
              <a:t>个人工具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707569-C138-40DD-90FF-005BC5B9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9075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B4C7"/>
                </a:solidFill>
              </a:defRPr>
            </a:pPr>
            <a:r>
              <a:rPr sz="1425" b="0">
                <a:solidFill>
                  <a:srgbClr val="A9B4C7"/>
                </a:solidFill>
              </a:rPr>
              <a:t>表单、计算器、清单、仪表盘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D1DE6-D335-4866-A949-806E1F85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0035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8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8BCE3-DC12-48A2-9AA3-25EE9E8A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F34A"/>
                </a:solidFill>
              </a:defRPr>
            </a:pPr>
            <a:r>
              <a:rPr sz="1350" b="1">
                <a:solidFill>
                  <a:srgbClr val="B8F34A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BA5DC-EF0B-4737-B3D4-CE2D525E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48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7FB"/>
                </a:solidFill>
              </a:defRPr>
            </a:pPr>
            <a:r>
              <a:rPr sz="1800" b="1">
                <a:solidFill>
                  <a:srgbClr val="F4F7FB"/>
                </a:solidFill>
              </a:rPr>
              <a:t>内部效率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33D507-933F-4D5A-8A64-8772EB4C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6705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B4C7"/>
                </a:solidFill>
              </a:defRPr>
            </a:pPr>
            <a:r>
              <a:rPr sz="1425" b="0">
                <a:solidFill>
                  <a:srgbClr val="A9B4C7"/>
                </a:solidFill>
              </a:rPr>
              <a:t>自动整理、查询、生成、提醒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009E0C-4384-4CAE-8CF2-F2E8E3E5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7665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8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9806B-8C1E-4B60-8DC0-5B0517A1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F34A"/>
                </a:solidFill>
              </a:defRPr>
            </a:pPr>
            <a:r>
              <a:rPr sz="1350" b="1">
                <a:solidFill>
                  <a:srgbClr val="B8F34A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055130-EC48-4BD0-9D97-C1555253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24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7FB"/>
                </a:solidFill>
              </a:defRPr>
            </a:pPr>
            <a:r>
              <a:rPr sz="1800" b="1">
                <a:solidFill>
                  <a:srgbClr val="F4F7FB"/>
                </a:solidFill>
              </a:rPr>
              <a:t>原型验证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5E9E9F-367E-495C-9FD8-48641CA4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4335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B4C7"/>
                </a:solidFill>
              </a:defRPr>
            </a:pPr>
            <a:r>
              <a:rPr sz="1425" b="0">
                <a:solidFill>
                  <a:srgbClr val="A9B4C7"/>
                </a:solidFill>
              </a:rPr>
              <a:t>快速验证一个产品想法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ECF981-3BC8-4FC3-844F-B6E769E5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5295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8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916B69-C937-42B2-AE93-D67EDEA6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F34A"/>
                </a:solidFill>
              </a:defRPr>
            </a:pPr>
            <a:r>
              <a:rPr sz="1350" b="1">
                <a:solidFill>
                  <a:srgbClr val="B8F34A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64A46D-809A-4E74-B2AC-38B81EE6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00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7FB"/>
                </a:solidFill>
              </a:defRPr>
            </a:pPr>
            <a:r>
              <a:rPr sz="1800" b="1">
                <a:solidFill>
                  <a:srgbClr val="F4F7FB"/>
                </a:solidFill>
              </a:rPr>
              <a:t>学习实验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9BF46D-3D51-4AD9-8C59-870A270E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965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9B4C7"/>
                </a:solidFill>
              </a:defRPr>
            </a:pPr>
            <a:r>
              <a:rPr sz="1425" b="0">
                <a:solidFill>
                  <a:srgbClr val="A9B4C7"/>
                </a:solidFill>
              </a:rPr>
              <a:t>把抽象概念变成可操作 demo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E97855-6C92-4A24-B41A-EDE97F51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2925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85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D5C1ED-CBFE-4331-97C6-D365EB12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53000"/>
            <a:ext cx="2476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B8F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D4CEF5-34F9-4A06-ACCE-2239FA37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1149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020"/>
                </a:solidFill>
              </a:defRPr>
            </a:pPr>
            <a:r>
              <a:rPr sz="1200" b="1">
                <a:solidFill>
                  <a:srgbClr val="0B1020"/>
                </a:solidFill>
              </a:rPr>
              <a:t>先做一个周末能完成的</a:t>
            </a:r>
          </a:p>
        </p:txBody>
      </p:sp>
    </p:spTree>
    <p:extLst>
      <p:ext uri="{BB962C8B-B14F-4D97-AF65-F5344CB8AC3E}">
        <p14:creationId xmlns:p14="http://schemas.microsoft.com/office/powerpoint/2010/main" val="18359241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6050F0-CFFC-41C8-93B3-E0FF9A57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F34A"/>
                </a:solidFill>
              </a:defRPr>
            </a:pPr>
            <a:r>
              <a:rPr sz="1050" b="1">
                <a:solidFill>
                  <a:srgbClr val="B8F34A"/>
                </a:solidFill>
              </a:rPr>
              <a:t>VIBE CODING 101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A4EC1-F51F-4383-8902-E496B2A2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9B4C7"/>
                </a:solidFill>
              </a:defRPr>
            </a:pPr>
            <a:r>
              <a:rPr sz="1050" b="1">
                <a:solidFill>
                  <a:srgbClr val="A9B4C7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56E51-83B9-4950-9D3D-53C56F00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8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60ED8-D58F-4C9F-9DBC-6B25CFEC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9B4C7"/>
                </a:solidFill>
              </a:defRPr>
            </a:pPr>
            <a:r>
              <a:rPr sz="900" b="0">
                <a:solidFill>
                  <a:srgbClr val="A9B4C7"/>
                </a:solidFill>
              </a:rPr>
              <a:t>把想法说清楚，剩下的交给协作。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0B399-13CE-4D8C-B60B-3D95CF18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7FB"/>
                </a:solidFill>
              </a:defRPr>
            </a:pPr>
            <a:r>
              <a:rPr sz="2850" b="1">
                <a:solidFill>
                  <a:srgbClr val="F4F7FB"/>
                </a:solidFill>
              </a:rPr>
              <a:t>好结果的分水岭：你会不会“提需求”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03D08-4A6E-47CF-9FF6-ACE8A3DC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B4C7"/>
                </a:solidFill>
              </a:defRPr>
            </a:pPr>
            <a:r>
              <a:rPr sz="1500" b="0">
                <a:solidFill>
                  <a:srgbClr val="A9B4C7"/>
                </a:solidFill>
              </a:rPr>
              <a:t>不是一句“帮我做个网站”，而是一份可验证的说明。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8F81A-9112-4436-861C-6AEEC96D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9530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21A2E"/>
          </a:solidFill>
          <a:ln xmlns:a="http://schemas.openxmlformats.org/drawingml/2006/main" w="9525">
            <a:solidFill>
              <a:srgbClr val="2B38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BC8BAC-9736-43A3-B493-8ED4CF17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B7A"/>
                </a:solidFill>
              </a:defRPr>
            </a:pPr>
            <a:r>
              <a:rPr sz="1350" b="1">
                <a:solidFill>
                  <a:srgbClr val="FF6B7A"/>
                </a:solidFill>
              </a:rPr>
              <a:t>模糊说法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001A5-2D3A-455B-83A1-ADCA1DE3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F7FB"/>
                </a:solidFill>
              </a:defRPr>
            </a:pPr>
            <a:r>
              <a:rPr sz="2100" b="1">
                <a:solidFill>
                  <a:srgbClr val="F4F7FB"/>
                </a:solidFill>
              </a:rPr>
              <a:t>“做个好看的记账 App”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13D52-DC33-4B17-975E-B5B7504C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B4C7"/>
                </a:solidFill>
              </a:defRPr>
            </a:pPr>
            <a:r>
              <a:rPr sz="1500" b="0">
                <a:solidFill>
                  <a:srgbClr val="A9B4C7"/>
                </a:solidFill>
              </a:rPr>
              <a:t>结果：AI 只能猜。</a:t>
            </a:r>
          </a:p>
          <a:p xmlns:a="http://schemas.openxmlformats.org/drawingml/2006/main">
            <a:pPr>
              <a:defRPr sz="1500" b="0">
                <a:solidFill>
                  <a:srgbClr val="A9B4C7"/>
                </a:solidFill>
              </a:defRPr>
            </a:pPr>
            <a:r>
              <a:rPr sz="1500" b="0">
                <a:solidFill>
                  <a:srgbClr val="A9B4C7"/>
                </a:solidFill>
              </a:rPr>
              <a:t>猜错了，再返工。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D964B7-F931-4DB8-A115-0E5B6620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53911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8233A"/>
          </a:solidFill>
          <a:ln xmlns:a="http://schemas.openxmlformats.org/drawingml/2006/main" w="9525">
            <a:solidFill>
              <a:srgbClr val="B8F3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7D80EC-98C2-4CAC-B860-F63C4856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146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F34A"/>
                </a:solidFill>
              </a:defRPr>
            </a:pPr>
            <a:r>
              <a:rPr sz="1350" b="1">
                <a:solidFill>
                  <a:srgbClr val="B8F34A"/>
                </a:solidFill>
              </a:rPr>
              <a:t>可执行说法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43AE96-56C9-44CE-83A6-3ECD817D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09900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4F7FB"/>
                </a:solidFill>
              </a:defRPr>
            </a:pPr>
            <a:r>
              <a:rPr sz="1950" b="1">
                <a:solidFill>
                  <a:srgbClr val="F4F7FB"/>
                </a:solidFill>
              </a:rPr>
              <a:t>“为自由职业者做一个</a:t>
            </a:r>
          </a:p>
          <a:p xmlns:a="http://schemas.openxmlformats.org/drawingml/2006/main">
            <a:pPr>
              <a:defRPr sz="1950" b="1">
                <a:solidFill>
                  <a:srgbClr val="F4F7FB"/>
                </a:solidFill>
              </a:defRPr>
            </a:pPr>
            <a:r>
              <a:rPr sz="1950" b="1">
                <a:solidFill>
                  <a:srgbClr val="F4F7FB"/>
                </a:solidFill>
              </a:rPr>
              <a:t>记录收入与待收款的网页”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7B78C-313D-432C-90FB-C16CEA48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529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4C7"/>
                </a:solidFill>
              </a:defRPr>
            </a:pPr>
            <a:r>
              <a:rPr sz="1350" b="0">
                <a:solidFill>
                  <a:srgbClr val="A9B4C7"/>
                </a:solidFill>
              </a:rPr>
              <a:t>补上：用户 · 场景 · 输入 · 输出 · 限制</a:t>
            </a:r>
          </a:p>
        </p:txBody>
      </p:sp>
    </p:spTree>
    <p:extLst>
      <p:ext uri="{BB962C8B-B14F-4D97-AF65-F5344CB8AC3E}">
        <p14:creationId xmlns:p14="http://schemas.microsoft.com/office/powerpoint/2010/main" val="1896736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6D8B0E-A331-4E7F-97C5-40D93E17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F34A"/>
                </a:solidFill>
              </a:defRPr>
            </a:pPr>
            <a:r>
              <a:rPr sz="1050" b="1">
                <a:solidFill>
                  <a:srgbClr val="B8F34A"/>
                </a:solidFill>
              </a:rPr>
              <a:t>VIBE CODING 101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E11AE-38D9-4400-932B-47D38A18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9B4C7"/>
                </a:solidFill>
              </a:defRPr>
            </a:pPr>
            <a:r>
              <a:rPr sz="1050" b="1">
                <a:solidFill>
                  <a:srgbClr val="A9B4C7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BA5AD-C688-446C-8661-920AD221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8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9928E-531B-488F-88EF-DB1FEF3A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9B4C7"/>
                </a:solidFill>
              </a:defRPr>
            </a:pPr>
            <a:r>
              <a:rPr sz="900" b="0">
                <a:solidFill>
                  <a:srgbClr val="A9B4C7"/>
                </a:solidFill>
              </a:rPr>
              <a:t>把想法说清楚，剩下的交给协作。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95908-94CA-45F9-9494-3A5782F0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7FB"/>
                </a:solidFill>
              </a:defRPr>
            </a:pPr>
            <a:r>
              <a:rPr sz="2850" b="1">
                <a:solidFill>
                  <a:srgbClr val="F4F7FB"/>
                </a:solidFill>
              </a:rPr>
              <a:t>AI 很强，但它不替你承担责任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2957F4-7224-4FDA-B37E-2C70037E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B4C7"/>
                </a:solidFill>
              </a:defRPr>
            </a:pPr>
            <a:r>
              <a:rPr sz="1500" b="0">
                <a:solidFill>
                  <a:srgbClr val="A9B4C7"/>
                </a:solidFill>
              </a:rPr>
              <a:t>生成速度 ≠ 结果可靠。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DF190-FFA0-4C7D-BA9A-012A42CD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857500" cy="23622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21A2E"/>
          </a:solidFill>
          <a:ln xmlns:a="http://schemas.openxmlformats.org/drawingml/2006/main" w="9525">
            <a:solidFill>
              <a:srgbClr val="62D9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8B5AC-E3EB-40CD-AEB1-2F22F643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2D9FF"/>
                </a:solidFill>
              </a:defRPr>
            </a:pPr>
            <a:r>
              <a:rPr sz="1650" b="1">
                <a:solidFill>
                  <a:srgbClr val="62D9FF"/>
                </a:solidFill>
              </a:rPr>
              <a:t>它擅长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88D3E0-4F71-4AC4-ACF5-8C9F1DB7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95650"/>
            <a:ext cx="228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F7FB"/>
                </a:solidFill>
              </a:defRPr>
            </a:pPr>
            <a:r>
              <a:rPr sz="2025" b="1">
                <a:solidFill>
                  <a:srgbClr val="F4F7FB"/>
                </a:solidFill>
              </a:rPr>
              <a:t>搭骨架</a:t>
            </a:r>
          </a:p>
          <a:p xmlns:a="http://schemas.openxmlformats.org/drawingml/2006/main">
            <a:pPr>
              <a:defRPr sz="2025" b="1">
                <a:solidFill>
                  <a:srgbClr val="F4F7FB"/>
                </a:solidFill>
              </a:defRPr>
            </a:pPr>
            <a:r>
              <a:rPr sz="2025" b="1">
                <a:solidFill>
                  <a:srgbClr val="F4F7FB"/>
                </a:solidFill>
              </a:rPr>
              <a:t>写样式</a:t>
            </a:r>
          </a:p>
          <a:p xmlns:a="http://schemas.openxmlformats.org/drawingml/2006/main">
            <a:pPr>
              <a:defRPr sz="2025" b="1">
                <a:solidFill>
                  <a:srgbClr val="F4F7FB"/>
                </a:solidFill>
              </a:defRPr>
            </a:pPr>
            <a:r>
              <a:rPr sz="2025" b="1">
                <a:solidFill>
                  <a:srgbClr val="F4F7FB"/>
                </a:solidFill>
              </a:rPr>
              <a:t>改小问题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0FDBC-C029-4F54-8AC9-641C51E4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2857500" cy="23622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21A2E"/>
          </a:solidFill>
          <a:ln xmlns:a="http://schemas.openxmlformats.org/drawingml/2006/main" w="9525">
            <a:solidFill>
              <a:srgbClr val="FFB8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D4E27-D9F8-4AC9-A9BF-62BA9AF4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86B"/>
                </a:solidFill>
              </a:defRPr>
            </a:pPr>
            <a:r>
              <a:rPr sz="1650" b="1">
                <a:solidFill>
                  <a:srgbClr val="FFB86B"/>
                </a:solidFill>
              </a:rPr>
              <a:t>它可能出错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B5702E-EB69-44C1-B309-6308703E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95650"/>
            <a:ext cx="228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F7FB"/>
                </a:solidFill>
              </a:defRPr>
            </a:pPr>
            <a:r>
              <a:rPr sz="2025" b="1">
                <a:solidFill>
                  <a:srgbClr val="F4F7FB"/>
                </a:solidFill>
              </a:rPr>
              <a:t>理解偏差</a:t>
            </a:r>
          </a:p>
          <a:p xmlns:a="http://schemas.openxmlformats.org/drawingml/2006/main">
            <a:pPr>
              <a:defRPr sz="2025" b="1">
                <a:solidFill>
                  <a:srgbClr val="F4F7FB"/>
                </a:solidFill>
              </a:defRPr>
            </a:pPr>
            <a:r>
              <a:rPr sz="2025" b="1">
                <a:solidFill>
                  <a:srgbClr val="F4F7FB"/>
                </a:solidFill>
              </a:rPr>
              <a:t>隐藏 Bug</a:t>
            </a:r>
          </a:p>
          <a:p xmlns:a="http://schemas.openxmlformats.org/drawingml/2006/main">
            <a:pPr>
              <a:defRPr sz="2025" b="1">
                <a:solidFill>
                  <a:srgbClr val="F4F7FB"/>
                </a:solidFill>
              </a:defRPr>
            </a:pPr>
            <a:r>
              <a:rPr sz="2025" b="1">
                <a:solidFill>
                  <a:srgbClr val="F4F7FB"/>
                </a:solidFill>
              </a:rPr>
              <a:t>过时做法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9DAB14-1289-4D42-9900-0F8CA5C5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2857500" cy="23622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21A2E"/>
          </a:solidFill>
          <a:ln xmlns:a="http://schemas.openxmlformats.org/drawingml/2006/main" w="9525">
            <a:solidFill>
              <a:srgbClr val="B8F3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D962C0-4B8A-4D40-808D-C45DE237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F34A"/>
                </a:solidFill>
              </a:defRPr>
            </a:pPr>
            <a:r>
              <a:rPr sz="1650" b="1">
                <a:solidFill>
                  <a:srgbClr val="B8F34A"/>
                </a:solidFill>
              </a:rPr>
              <a:t>你要把关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C085B9-75C0-43A7-B0B5-50CA2604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95650"/>
            <a:ext cx="2286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4F7FB"/>
                </a:solidFill>
              </a:defRPr>
            </a:pPr>
            <a:r>
              <a:rPr sz="2025" b="1">
                <a:solidFill>
                  <a:srgbClr val="F4F7FB"/>
                </a:solidFill>
              </a:rPr>
              <a:t>数据安全</a:t>
            </a:r>
          </a:p>
          <a:p xmlns:a="http://schemas.openxmlformats.org/drawingml/2006/main">
            <a:pPr>
              <a:defRPr sz="2025" b="1">
                <a:solidFill>
                  <a:srgbClr val="F4F7FB"/>
                </a:solidFill>
              </a:defRPr>
            </a:pPr>
            <a:r>
              <a:rPr sz="2025" b="1">
                <a:solidFill>
                  <a:srgbClr val="F4F7FB"/>
                </a:solidFill>
              </a:rPr>
              <a:t>真实流程</a:t>
            </a:r>
          </a:p>
          <a:p xmlns:a="http://schemas.openxmlformats.org/drawingml/2006/main">
            <a:pPr>
              <a:defRPr sz="2025" b="1">
                <a:solidFill>
                  <a:srgbClr val="F4F7FB"/>
                </a:solidFill>
              </a:defRPr>
            </a:pPr>
            <a:r>
              <a:rPr sz="2025" b="1">
                <a:solidFill>
                  <a:srgbClr val="F4F7FB"/>
                </a:solidFill>
              </a:rPr>
              <a:t>最终体验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A852BE-31EC-4E6B-A9DF-3516AE90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底线：涉及隐私、支付、权限、生产数据时，必须加人工审核。</a:t>
            </a:r>
          </a:p>
        </p:txBody>
      </p:sp>
    </p:spTree>
    <p:extLst>
      <p:ext uri="{BB962C8B-B14F-4D97-AF65-F5344CB8AC3E}">
        <p14:creationId xmlns:p14="http://schemas.microsoft.com/office/powerpoint/2010/main" val="16365481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589AF8-F8AC-4095-8D81-5501AB18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F34A"/>
                </a:solidFill>
              </a:defRPr>
            </a:pPr>
            <a:r>
              <a:rPr sz="1050" b="1">
                <a:solidFill>
                  <a:srgbClr val="B8F34A"/>
                </a:solidFill>
              </a:rPr>
              <a:t>VIBE CODING 101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AD81A-CB2C-417F-A30A-B0D0A176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9B4C7"/>
                </a:solidFill>
              </a:defRPr>
            </a:pPr>
            <a:r>
              <a:rPr sz="1050" b="1">
                <a:solidFill>
                  <a:srgbClr val="A9B4C7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2F18B-C7E0-4F56-B793-F0AC16CD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8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A64F2-516E-4C7F-9631-C860B902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9B4C7"/>
                </a:solidFill>
              </a:defRPr>
            </a:pPr>
            <a:r>
              <a:rPr sz="900" b="0">
                <a:solidFill>
                  <a:srgbClr val="A9B4C7"/>
                </a:solidFill>
              </a:rPr>
              <a:t>把想法说清楚，剩下的交给协作。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48909-7B4D-40E5-BFD1-2C6006E9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7FB"/>
                </a:solidFill>
              </a:defRPr>
            </a:pPr>
            <a:r>
              <a:rPr sz="2850" b="1">
                <a:solidFill>
                  <a:srgbClr val="F4F7FB"/>
                </a:solidFill>
              </a:rPr>
              <a:t>一套可复用的安全起步法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227E6-BFAD-448B-87EF-FFE2135A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B4C7"/>
                </a:solidFill>
              </a:defRPr>
            </a:pPr>
            <a:r>
              <a:rPr sz="1500" b="0">
                <a:solidFill>
                  <a:srgbClr val="A9B4C7"/>
                </a:solidFill>
              </a:rPr>
              <a:t>把第一次成功，拆成 5 个小回合。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F331F-DED1-41E7-BA71-AED6D03B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8F34A"/>
                </a:solidFill>
              </a:defRPr>
            </a:pPr>
            <a:r>
              <a:rPr sz="2400" b="1">
                <a:solidFill>
                  <a:srgbClr val="B8F34A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EF57C-8EE0-4D0B-9763-743B8E9E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1657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900AA-93A2-4F5F-8E17-49A41501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选一个小问题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9258A-0123-4077-A8F2-F83490D7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528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38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A8D696-53F7-441A-81E7-9D4819FD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670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8F34A"/>
                </a:solidFill>
              </a:defRPr>
            </a:pPr>
            <a:r>
              <a:rPr sz="2400" b="1">
                <a:solidFill>
                  <a:srgbClr val="B8F34A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4B253-2A7D-4972-AAEF-BAAAF12F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314700"/>
            <a:ext cx="1657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70B697-6A73-46BA-BCC1-00B59400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6766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写清验收标准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B88159-4232-44BA-9183-518ECA19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528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38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EF5304-070F-40E9-9B1A-CAE9F808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670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8F34A"/>
                </a:solidFill>
              </a:defRPr>
            </a:pPr>
            <a:r>
              <a:rPr sz="2400" b="1">
                <a:solidFill>
                  <a:srgbClr val="B8F34A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78C950-796D-473E-8261-CE0ADCDD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14700"/>
            <a:ext cx="1657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2E8191-7F23-4A3A-8D4B-D17EC084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766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让 AI 先出最小版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A3E37F-FECB-41EC-93AC-67DFD2EF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528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38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4840BA-271B-4908-8EA3-689AC579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6670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8F34A"/>
                </a:solidFill>
              </a:defRPr>
            </a:pPr>
            <a:r>
              <a:rPr sz="2400" b="1">
                <a:solidFill>
                  <a:srgbClr val="B8F34A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34EB23-7197-498D-B051-B5538719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314700"/>
            <a:ext cx="1657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9E8D99-FD26-482D-B11C-CBEBE9CD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6766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逐步加功能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5C5894-9DFE-46D0-943E-D8965537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528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385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432ABF-C19D-4992-AD9A-1D710B3A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8F34A"/>
                </a:solidFill>
              </a:defRPr>
            </a:pPr>
            <a:r>
              <a:rPr sz="2400" b="1">
                <a:solidFill>
                  <a:srgbClr val="B8F34A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9BE1AB-EBC2-4DE3-AB3F-46484B12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14700"/>
            <a:ext cx="1657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45A12E-9EA4-4308-BD4F-8C4DD07C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766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保存可回退版本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512734-0D25-4671-BBE5-9B5DDE3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9144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233A"/>
          </a:solidFill>
          <a:ln xmlns:a="http://schemas.openxmlformats.org/drawingml/2006/main" w="9525">
            <a:solidFill>
              <a:srgbClr val="2B385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B827DF-9467-4F9F-B61C-C4AF8411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530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7FB"/>
                </a:solidFill>
              </a:defRPr>
            </a:pPr>
            <a:r>
              <a:rPr sz="1650" b="1">
                <a:solidFill>
                  <a:srgbClr val="F4F7FB"/>
                </a:solidFill>
              </a:rPr>
              <a:t>每一轮只回答一个问题：现在的版本，离“能用”还差什么？</a:t>
            </a:r>
          </a:p>
        </p:txBody>
      </p:sp>
    </p:spTree>
    <p:extLst>
      <p:ext uri="{BB962C8B-B14F-4D97-AF65-F5344CB8AC3E}">
        <p14:creationId xmlns:p14="http://schemas.microsoft.com/office/powerpoint/2010/main" val="1447211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CAA26-3D26-49AB-B803-8A50FFA4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F34A"/>
                </a:solidFill>
              </a:defRPr>
            </a:pPr>
            <a:r>
              <a:rPr sz="1050" b="1">
                <a:solidFill>
                  <a:srgbClr val="B8F34A"/>
                </a:solidFill>
              </a:rPr>
              <a:t>VIBE CODING 101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8AA9A-200A-40E1-AD0D-966B6469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9B4C7"/>
                </a:solidFill>
              </a:defRPr>
            </a:pPr>
            <a:r>
              <a:rPr sz="1050" b="1">
                <a:solidFill>
                  <a:srgbClr val="A9B4C7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F290F-5F98-43F3-A132-45567A4F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8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DC6D5-473B-4B18-946A-6D714682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9B4C7"/>
                </a:solidFill>
              </a:defRPr>
            </a:pPr>
            <a:r>
              <a:rPr sz="900" b="0">
                <a:solidFill>
                  <a:srgbClr val="A9B4C7"/>
                </a:solidFill>
              </a:rPr>
              <a:t>把想法说清楚，剩下的交给协作。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20C9C-038E-4F58-B101-04AD875C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4F7FB"/>
                </a:solidFill>
              </a:defRPr>
            </a:pPr>
            <a:r>
              <a:rPr sz="2850" b="1">
                <a:solidFill>
                  <a:srgbClr val="F4F7FB"/>
                </a:solidFill>
              </a:rPr>
              <a:t>现在就可以开始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55998-8D8D-4ADE-B4C4-6E6C2E23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B4C7"/>
                </a:solidFill>
              </a:defRPr>
            </a:pPr>
            <a:r>
              <a:rPr sz="1500" b="0">
                <a:solidFill>
                  <a:srgbClr val="A9B4C7"/>
                </a:solidFill>
              </a:rPr>
              <a:t>别从“学会编程”开始，从“解决一个小问题”开始。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9995D-022B-4BE9-B181-786C6C1A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8F34A"/>
                </a:solidFill>
              </a:defRPr>
            </a:pPr>
            <a:r>
              <a:rPr sz="1500" b="1">
                <a:solidFill>
                  <a:srgbClr val="B8F34A"/>
                </a:solidFill>
              </a:rPr>
              <a:t>今天的行动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C66A4-BAF8-4A44-A2AC-47983FC4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8F34A"/>
                </a:solidFill>
              </a:defRPr>
            </a:pPr>
            <a:r>
              <a:rPr sz="1725" b="1">
                <a:solidFill>
                  <a:srgbClr val="B8F34A"/>
                </a:solidFill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16F3B7-CDA2-4753-8427-AAD7A04B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5750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找一个重复做、很烦的小任务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E3D8D-9896-47BC-ADAB-8B3831ED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8F34A"/>
                </a:solidFill>
              </a:defRPr>
            </a:pPr>
            <a:r>
              <a:rPr sz="1725" b="1">
                <a:solidFill>
                  <a:srgbClr val="B8F34A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C8E9F4-79D5-4482-A105-168B8CA5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0995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用 3 句话写清楚用户与结果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F6368E-2D97-4BBB-8EB0-53466F13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8F34A"/>
                </a:solidFill>
              </a:defRPr>
            </a:pPr>
            <a:r>
              <a:rPr sz="1725" b="1">
                <a:solidFill>
                  <a:srgbClr val="B8F34A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79A791-A35C-4083-82CB-54191515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6240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让 AI 先做最小可用版本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957268-3ECA-43F3-A637-EACE9DC9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8F34A"/>
                </a:solidFill>
              </a:defRPr>
            </a:pPr>
            <a:r>
              <a:rPr sz="1725" b="1">
                <a:solidFill>
                  <a:srgbClr val="B8F34A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59D6E2-FA6C-4E21-A05A-6979A201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1485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F7FB"/>
                </a:solidFill>
              </a:defRPr>
            </a:pPr>
            <a:r>
              <a:rPr sz="1725" b="1">
                <a:solidFill>
                  <a:srgbClr val="F4F7FB"/>
                </a:solidFill>
              </a:rPr>
              <a:t>亲自试 10 分钟，再反馈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5576F-BFCF-46F1-9F36-7E85D7B3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43150"/>
            <a:ext cx="2247900" cy="1885950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B8F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EC51BE-634E-4413-A1D0-D122B97E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479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020"/>
                </a:solidFill>
              </a:defRPr>
            </a:pPr>
            <a:r>
              <a:rPr sz="2700" b="1">
                <a:solidFill>
                  <a:srgbClr val="0B1020"/>
                </a:solidFill>
              </a:rPr>
              <a:t>VIBE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5E9046-D5B7-46DD-9959-925DD4EF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623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020"/>
                </a:solidFill>
              </a:defRPr>
            </a:pPr>
            <a:r>
              <a:rPr sz="1875" b="1">
                <a:solidFill>
                  <a:srgbClr val="0B1020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6FD981-E55B-4DA6-87A1-4B7A9B83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242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1020"/>
                </a:solidFill>
              </a:defRPr>
            </a:pPr>
            <a:r>
              <a:rPr sz="2700" b="1">
                <a:solidFill>
                  <a:srgbClr val="0B1020"/>
                </a:solidFill>
              </a:rPr>
              <a:t>MAKE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058B1F-0B35-4D09-86BE-EFEC2D8E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F7FB"/>
                </a:solidFill>
              </a:defRPr>
            </a:pPr>
            <a:r>
              <a:rPr sz="2100" b="1">
                <a:solidFill>
                  <a:srgbClr val="F4F7FB"/>
                </a:solidFill>
              </a:rPr>
              <a:t>最好的入门课</a:t>
            </a:r>
          </a:p>
          <a:p xmlns:a="http://schemas.openxmlformats.org/drawingml/2006/main">
            <a:pPr>
              <a:defRPr sz="2100" b="1">
                <a:solidFill>
                  <a:srgbClr val="F4F7FB"/>
                </a:solidFill>
              </a:defRPr>
            </a:pPr>
            <a:r>
              <a:rPr sz="2100" b="1">
                <a:solidFill>
                  <a:srgbClr val="F4F7FB"/>
                </a:solidFill>
              </a:rPr>
              <a:t>是做出第一个小东西。</a:t>
            </a:r>
          </a:p>
        </p:txBody>
      </p:sp>
    </p:spTree>
    <p:extLst>
      <p:ext uri="{BB962C8B-B14F-4D97-AF65-F5344CB8AC3E}">
        <p14:creationId xmlns:p14="http://schemas.microsoft.com/office/powerpoint/2010/main" val="4974781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2026-08-06T06:30:20.1390000Z</dcterms:created>
  <dcterms:modified xsi:type="dcterms:W3CDTF">2026-08-06T06:30:20.1390000Z</dcterms:modified>
</coreProperties>
</file>